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78" r:id="rId5"/>
    <p:sldId id="261" r:id="rId6"/>
    <p:sldId id="263" r:id="rId7"/>
    <p:sldId id="259" r:id="rId8"/>
    <p:sldId id="260" r:id="rId9"/>
    <p:sldId id="264" r:id="rId10"/>
    <p:sldId id="265" r:id="rId11"/>
    <p:sldId id="267" r:id="rId12"/>
    <p:sldId id="266" r:id="rId13"/>
    <p:sldId id="270" r:id="rId14"/>
    <p:sldId id="268" r:id="rId15"/>
    <p:sldId id="269" r:id="rId16"/>
    <p:sldId id="271" r:id="rId17"/>
    <p:sldId id="272" r:id="rId18"/>
    <p:sldId id="274" r:id="rId19"/>
    <p:sldId id="275" r:id="rId20"/>
    <p:sldId id="276" r:id="rId21"/>
    <p:sldId id="277" r:id="rId22"/>
    <p:sldId id="273" r:id="rId23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2251" autoAdjust="0"/>
  </p:normalViewPr>
  <p:slideViewPr>
    <p:cSldViewPr snapToGrid="0">
      <p:cViewPr varScale="1">
        <p:scale>
          <a:sx n="44" d="100"/>
          <a:sy n="44" d="100"/>
        </p:scale>
        <p:origin x="14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C2B1B-F46A-42F7-9121-E17CF1264591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7221C-8ECB-4574-8B25-5EEAAFB8C9F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45738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Lake Erken</a:t>
            </a:r>
          </a:p>
          <a:p>
            <a:r>
              <a:rPr lang="sv-SE" dirty="0"/>
              <a:t>For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hour</a:t>
            </a:r>
            <a:r>
              <a:rPr lang="sv-SE" dirty="0"/>
              <a:t>: </a:t>
            </a:r>
            <a:r>
              <a:rPr lang="sv-SE" dirty="0" err="1"/>
              <a:t>daylight</a:t>
            </a:r>
            <a:r>
              <a:rPr lang="sv-SE" dirty="0"/>
              <a:t> flag (0: </a:t>
            </a:r>
            <a:r>
              <a:rPr lang="sv-SE" dirty="0" err="1"/>
              <a:t>night</a:t>
            </a:r>
            <a:r>
              <a:rPr lang="sv-SE" dirty="0"/>
              <a:t>, 1: </a:t>
            </a:r>
            <a:r>
              <a:rPr lang="sv-SE" dirty="0" err="1"/>
              <a:t>day</a:t>
            </a:r>
            <a:r>
              <a:rPr lang="sv-SE"/>
              <a:t>), time</a:t>
            </a:r>
            <a:r>
              <a:rPr lang="sv-SE" dirty="0"/>
              <a:t> </a:t>
            </a:r>
            <a:r>
              <a:rPr lang="sv-SE" dirty="0" err="1"/>
              <a:t>since</a:t>
            </a:r>
            <a:r>
              <a:rPr lang="sv-SE" dirty="0"/>
              <a:t> </a:t>
            </a:r>
            <a:r>
              <a:rPr lang="sv-SE" dirty="0" err="1"/>
              <a:t>sunrise</a:t>
            </a:r>
            <a:r>
              <a:rPr lang="sv-SE" dirty="0"/>
              <a:t> , </a:t>
            </a:r>
            <a:r>
              <a:rPr lang="sv-SE" dirty="0" err="1"/>
              <a:t>time</a:t>
            </a:r>
            <a:r>
              <a:rPr lang="sv-SE" dirty="0"/>
              <a:t> </a:t>
            </a:r>
            <a:r>
              <a:rPr lang="sv-SE" dirty="0" err="1"/>
              <a:t>until</a:t>
            </a:r>
            <a:r>
              <a:rPr lang="sv-SE" dirty="0"/>
              <a:t> </a:t>
            </a:r>
            <a:r>
              <a:rPr lang="sv-SE" dirty="0" err="1"/>
              <a:t>sunset</a:t>
            </a:r>
            <a:r>
              <a:rPr lang="sv-SE" dirty="0"/>
              <a:t>, </a:t>
            </a:r>
            <a:r>
              <a:rPr lang="sv-SE" dirty="0" err="1"/>
              <a:t>hour</a:t>
            </a:r>
            <a:r>
              <a:rPr lang="sv-SE" dirty="0"/>
              <a:t> </a:t>
            </a:r>
            <a:r>
              <a:rPr lang="sv-SE" dirty="0" err="1"/>
              <a:t>angle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68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98543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3375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9966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July</a:t>
            </a:r>
            <a:r>
              <a:rPr lang="sv-SE" dirty="0"/>
              <a:t>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415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73197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559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19982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67833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44046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3447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3334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July</a:t>
            </a:r>
            <a:r>
              <a:rPr lang="sv-SE" dirty="0"/>
              <a:t>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663633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sv-SE" dirty="0"/>
                  <a:t>For T, a=temporal </a:t>
                </a:r>
                <a:r>
                  <a:rPr lang="sv-SE" dirty="0" err="1"/>
                  <a:t>difference</a:t>
                </a:r>
                <a:r>
                  <a:rPr lang="sv-SE" dirty="0"/>
                  <a:t> </a:t>
                </a:r>
                <a:r>
                  <a:rPr lang="sv-SE" dirty="0" err="1"/>
                  <a:t>between</a:t>
                </a:r>
                <a:r>
                  <a:rPr lang="sv-SE" dirty="0"/>
                  <a:t> solar </a:t>
                </a:r>
                <a:r>
                  <a:rPr lang="sv-SE" dirty="0" err="1"/>
                  <a:t>noon</a:t>
                </a:r>
                <a:r>
                  <a:rPr lang="sv-SE" dirty="0"/>
                  <a:t> and the </a:t>
                </a:r>
                <a:r>
                  <a:rPr lang="sv-SE" dirty="0" err="1"/>
                  <a:t>occurrence</a:t>
                </a:r>
                <a:r>
                  <a:rPr lang="sv-SE" dirty="0"/>
                  <a:t> of the maximum </a:t>
                </a:r>
                <a:r>
                  <a:rPr lang="sv-SE" dirty="0" err="1"/>
                  <a:t>temperature</a:t>
                </a:r>
                <a:endParaRPr lang="sv-SE" dirty="0"/>
              </a:p>
              <a:p>
                <a:r>
                  <a:rPr lang="sv-SE" dirty="0"/>
                  <a:t>For v, a=amplitud </a:t>
                </a:r>
                <a:r>
                  <a:rPr lang="sv-SE" dirty="0" err="1"/>
                  <a:t>ocefficient</a:t>
                </a:r>
                <a:r>
                  <a:rPr lang="sv-SE" dirty="0"/>
                  <a:t>: </a:t>
                </a:r>
                <a:r>
                  <a:rPr lang="sv-SE" dirty="0" err="1"/>
                  <a:t>controls</a:t>
                </a:r>
                <a:r>
                  <a:rPr lang="sv-SE" dirty="0"/>
                  <a:t> </a:t>
                </a:r>
                <a:r>
                  <a:rPr lang="sv-SE" dirty="0" err="1"/>
                  <a:t>how</a:t>
                </a:r>
                <a:r>
                  <a:rPr lang="sv-SE" dirty="0"/>
                  <a:t> </a:t>
                </a:r>
                <a:r>
                  <a:rPr lang="sv-SE" dirty="0" err="1"/>
                  <a:t>stron</a:t>
                </a:r>
                <a:r>
                  <a:rPr lang="sv-SE" dirty="0"/>
                  <a:t> the oscillation is, b=</a:t>
                </a:r>
                <a:r>
                  <a:rPr lang="sv-SE" dirty="0" err="1"/>
                  <a:t>baseline</a:t>
                </a:r>
                <a:r>
                  <a:rPr lang="sv-SE" dirty="0"/>
                  <a:t> </a:t>
                </a:r>
                <a:r>
                  <a:rPr lang="sv-SE" dirty="0" err="1"/>
                  <a:t>scaling</a:t>
                </a:r>
                <a:r>
                  <a:rPr lang="sv-SE" dirty="0"/>
                  <a:t> </a:t>
                </a:r>
                <a:r>
                  <a:rPr lang="sv-SE" dirty="0" err="1"/>
                  <a:t>factor</a:t>
                </a:r>
                <a:r>
                  <a:rPr lang="sv-SE" dirty="0"/>
                  <a:t>: </a:t>
                </a:r>
                <a:r>
                  <a:rPr lang="sv-SE" dirty="0" err="1"/>
                  <a:t>controls</a:t>
                </a:r>
                <a:r>
                  <a:rPr lang="sv-SE" dirty="0"/>
                  <a:t> the </a:t>
                </a:r>
                <a:r>
                  <a:rPr lang="sv-SE" dirty="0" err="1"/>
                  <a:t>average</a:t>
                </a:r>
                <a:r>
                  <a:rPr lang="sv-SE" dirty="0"/>
                  <a:t> </a:t>
                </a:r>
                <a:r>
                  <a:rPr lang="sv-SE" dirty="0" err="1"/>
                  <a:t>level</a:t>
                </a:r>
                <a:r>
                  <a:rPr lang="sv-SE" dirty="0"/>
                  <a:t> of the </a:t>
                </a:r>
                <a:r>
                  <a:rPr lang="sv-SE" dirty="0" err="1"/>
                  <a:t>velocity</a:t>
                </a:r>
                <a:r>
                  <a:rPr lang="sv-SE" dirty="0"/>
                  <a:t> relative to vi, </a:t>
                </a:r>
                <a:r>
                  <a:rPr lang="el-GR" dirty="0"/>
                  <a:t>Δ</a:t>
                </a:r>
                <a:r>
                  <a:rPr lang="sv-SE" dirty="0"/>
                  <a:t>j= </a:t>
                </a:r>
                <a:r>
                  <a:rPr lang="sv-SE" dirty="0" err="1"/>
                  <a:t>when</a:t>
                </a:r>
                <a:r>
                  <a:rPr lang="sv-SE" dirty="0"/>
                  <a:t> </a:t>
                </a:r>
                <a:r>
                  <a:rPr lang="sv-SE" dirty="0" err="1"/>
                  <a:t>wind</a:t>
                </a:r>
                <a:r>
                  <a:rPr lang="sv-SE" dirty="0"/>
                  <a:t> speed </a:t>
                </a:r>
                <a:r>
                  <a:rPr lang="sv-SE" dirty="0" err="1"/>
                  <a:t>peak</a:t>
                </a:r>
                <a:r>
                  <a:rPr lang="sv-SE" dirty="0"/>
                  <a:t>.</a:t>
                </a:r>
              </a:p>
              <a:p>
                <a:r>
                  <a:rPr lang="sv-SE" dirty="0"/>
                  <a:t>For R0, Z=solar </a:t>
                </a:r>
                <a:r>
                  <a:rPr lang="sv-SE" dirty="0" err="1"/>
                  <a:t>zenith</a:t>
                </a:r>
                <a:r>
                  <a:rPr lang="sv-SE" dirty="0"/>
                  <a:t> (</a:t>
                </a:r>
                <a:r>
                  <a:rPr lang="sv-SE" dirty="0" err="1"/>
                  <a:t>depende</a:t>
                </a:r>
                <a:r>
                  <a:rPr lang="sv-SE" dirty="0"/>
                  <a:t> on </a:t>
                </a:r>
                <a:r>
                  <a:rPr lang="sv-SE" dirty="0" err="1"/>
                  <a:t>time</a:t>
                </a:r>
                <a:r>
                  <a:rPr lang="sv-SE" dirty="0"/>
                  <a:t> and </a:t>
                </a:r>
                <a:r>
                  <a:rPr lang="sv-SE" dirty="0" err="1"/>
                  <a:t>latitude</a:t>
                </a:r>
                <a:r>
                  <a:rPr lang="sv-SE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𝑑𝑖𝑟</m:t>
                        </m:r>
                      </m:sub>
                    </m:sSub>
                  </m:oMath>
                </a14:m>
                <a:r>
                  <a:rPr lang="sv-SE" dirty="0"/>
                  <a:t> and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𝑑𝑖𝑓</m:t>
                        </m:r>
                      </m:sub>
                    </m:sSub>
                  </m:oMath>
                </a14:m>
                <a:r>
                  <a:rPr lang="sv-SE" dirty="0"/>
                  <a:t> </a:t>
                </a:r>
                <a:r>
                  <a:rPr lang="sv-SE" dirty="0" err="1"/>
                  <a:t>direct</a:t>
                </a:r>
                <a:r>
                  <a:rPr lang="sv-SE" dirty="0"/>
                  <a:t> and diffuse</a:t>
                </a:r>
                <a:r>
                  <a:rPr lang="sv-SE" baseline="0" dirty="0"/>
                  <a:t> </a:t>
                </a:r>
                <a:r>
                  <a:rPr lang="sv-SE" baseline="0" dirty="0" err="1"/>
                  <a:t>radiation</a:t>
                </a:r>
                <a:r>
                  <a:rPr lang="sv-SE" baseline="0" dirty="0"/>
                  <a:t> </a:t>
                </a:r>
                <a:r>
                  <a:rPr lang="sv-SE" baseline="0" dirty="0" err="1"/>
                  <a:t>scaling</a:t>
                </a:r>
                <a:r>
                  <a:rPr lang="sv-SE" baseline="0" dirty="0"/>
                  <a:t> </a:t>
                </a:r>
                <a:r>
                  <a:rPr lang="sv-SE" baseline="0" dirty="0" err="1"/>
                  <a:t>values</a:t>
                </a:r>
                <a:endParaRPr lang="sv-SE" baseline="0" dirty="0"/>
              </a:p>
              <a:p>
                <a:endParaRPr lang="sv-SE" baseline="0" dirty="0"/>
              </a:p>
              <a:p>
                <a:r>
                  <a:rPr lang="sv-SE" baseline="0" dirty="0"/>
                  <a:t>For precipitation: </a:t>
                </a:r>
                <a:r>
                  <a:rPr lang="en-US" dirty="0"/>
                  <a:t>the model splits rainfall into smaller time periods. It uses patterns learned from real data. From this data, it knows things like: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sometimes rain falls mostly in one short period,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sometimes it is spread more evenly,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sometimes one time step gets all the rain, and the next gets none. </a:t>
                </a:r>
              </a:p>
              <a:p>
                <a:r>
                  <a:rPr lang="en-US" dirty="0"/>
                  <a:t>These patterns are turned into probabilities and weights. Then, during disaggregation, the model randomly chooses how to split the rain based on those probabilities.</a:t>
                </a: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sv-SE" dirty="0"/>
                  <a:t>For T, a=temporal </a:t>
                </a:r>
                <a:r>
                  <a:rPr lang="sv-SE" dirty="0" err="1"/>
                  <a:t>difference</a:t>
                </a:r>
                <a:r>
                  <a:rPr lang="sv-SE" dirty="0"/>
                  <a:t> </a:t>
                </a:r>
                <a:r>
                  <a:rPr lang="sv-SE" dirty="0" err="1"/>
                  <a:t>between</a:t>
                </a:r>
                <a:r>
                  <a:rPr lang="sv-SE" dirty="0"/>
                  <a:t> solar </a:t>
                </a:r>
                <a:r>
                  <a:rPr lang="sv-SE" dirty="0" err="1"/>
                  <a:t>noon</a:t>
                </a:r>
                <a:r>
                  <a:rPr lang="sv-SE" dirty="0"/>
                  <a:t> and the </a:t>
                </a:r>
                <a:r>
                  <a:rPr lang="sv-SE" dirty="0" err="1"/>
                  <a:t>occurrence</a:t>
                </a:r>
                <a:r>
                  <a:rPr lang="sv-SE" dirty="0"/>
                  <a:t> of the maximum </a:t>
                </a:r>
                <a:r>
                  <a:rPr lang="sv-SE" dirty="0" err="1"/>
                  <a:t>temperature</a:t>
                </a:r>
                <a:endParaRPr lang="sv-SE" dirty="0"/>
              </a:p>
              <a:p>
                <a:r>
                  <a:rPr lang="sv-SE" dirty="0"/>
                  <a:t>For v, a=amplitud </a:t>
                </a:r>
                <a:r>
                  <a:rPr lang="sv-SE" dirty="0" err="1"/>
                  <a:t>ocefficient</a:t>
                </a:r>
                <a:r>
                  <a:rPr lang="sv-SE" dirty="0"/>
                  <a:t>: </a:t>
                </a:r>
                <a:r>
                  <a:rPr lang="sv-SE" dirty="0" err="1"/>
                  <a:t>controls</a:t>
                </a:r>
                <a:r>
                  <a:rPr lang="sv-SE" dirty="0"/>
                  <a:t> </a:t>
                </a:r>
                <a:r>
                  <a:rPr lang="sv-SE" dirty="0" err="1"/>
                  <a:t>how</a:t>
                </a:r>
                <a:r>
                  <a:rPr lang="sv-SE" dirty="0"/>
                  <a:t> </a:t>
                </a:r>
                <a:r>
                  <a:rPr lang="sv-SE" dirty="0" err="1"/>
                  <a:t>stron</a:t>
                </a:r>
                <a:r>
                  <a:rPr lang="sv-SE" dirty="0"/>
                  <a:t> the oscillation is, b=</a:t>
                </a:r>
                <a:r>
                  <a:rPr lang="sv-SE" dirty="0" err="1"/>
                  <a:t>baseline</a:t>
                </a:r>
                <a:r>
                  <a:rPr lang="sv-SE" dirty="0"/>
                  <a:t> </a:t>
                </a:r>
                <a:r>
                  <a:rPr lang="sv-SE" dirty="0" err="1"/>
                  <a:t>scaling</a:t>
                </a:r>
                <a:r>
                  <a:rPr lang="sv-SE" dirty="0"/>
                  <a:t> </a:t>
                </a:r>
                <a:r>
                  <a:rPr lang="sv-SE" dirty="0" err="1"/>
                  <a:t>factor</a:t>
                </a:r>
                <a:r>
                  <a:rPr lang="sv-SE" dirty="0"/>
                  <a:t>: </a:t>
                </a:r>
                <a:r>
                  <a:rPr lang="sv-SE" dirty="0" err="1"/>
                  <a:t>controls</a:t>
                </a:r>
                <a:r>
                  <a:rPr lang="sv-SE" dirty="0"/>
                  <a:t> the </a:t>
                </a:r>
                <a:r>
                  <a:rPr lang="sv-SE" dirty="0" err="1"/>
                  <a:t>average</a:t>
                </a:r>
                <a:r>
                  <a:rPr lang="sv-SE" dirty="0"/>
                  <a:t> </a:t>
                </a:r>
                <a:r>
                  <a:rPr lang="sv-SE" dirty="0" err="1"/>
                  <a:t>level</a:t>
                </a:r>
                <a:r>
                  <a:rPr lang="sv-SE" dirty="0"/>
                  <a:t> of the </a:t>
                </a:r>
                <a:r>
                  <a:rPr lang="sv-SE" dirty="0" err="1"/>
                  <a:t>velocity</a:t>
                </a:r>
                <a:r>
                  <a:rPr lang="sv-SE" dirty="0"/>
                  <a:t> relative to vi, </a:t>
                </a:r>
                <a:r>
                  <a:rPr lang="el-GR" dirty="0"/>
                  <a:t>Δ</a:t>
                </a:r>
                <a:r>
                  <a:rPr lang="sv-SE" dirty="0"/>
                  <a:t>j= </a:t>
                </a:r>
                <a:r>
                  <a:rPr lang="sv-SE" dirty="0" err="1"/>
                  <a:t>when</a:t>
                </a:r>
                <a:r>
                  <a:rPr lang="sv-SE" dirty="0"/>
                  <a:t> </a:t>
                </a:r>
                <a:r>
                  <a:rPr lang="sv-SE" dirty="0" err="1"/>
                  <a:t>wind</a:t>
                </a:r>
                <a:r>
                  <a:rPr lang="sv-SE" dirty="0"/>
                  <a:t> speed </a:t>
                </a:r>
                <a:r>
                  <a:rPr lang="sv-SE" dirty="0" err="1"/>
                  <a:t>peak</a:t>
                </a:r>
                <a:r>
                  <a:rPr lang="sv-SE" dirty="0"/>
                  <a:t>.</a:t>
                </a:r>
              </a:p>
              <a:p>
                <a:r>
                  <a:rPr lang="sv-SE" dirty="0"/>
                  <a:t>For R0, Z=solar </a:t>
                </a:r>
                <a:r>
                  <a:rPr lang="sv-SE" dirty="0" err="1"/>
                  <a:t>zenith</a:t>
                </a:r>
                <a:r>
                  <a:rPr lang="sv-SE" dirty="0"/>
                  <a:t> (</a:t>
                </a:r>
                <a:r>
                  <a:rPr lang="sv-SE" dirty="0" err="1"/>
                  <a:t>depende</a:t>
                </a:r>
                <a:r>
                  <a:rPr lang="sv-SE" dirty="0"/>
                  <a:t> on </a:t>
                </a:r>
                <a:r>
                  <a:rPr lang="sv-SE" dirty="0" err="1"/>
                  <a:t>time</a:t>
                </a:r>
                <a:r>
                  <a:rPr lang="sv-SE" dirty="0"/>
                  <a:t> and </a:t>
                </a:r>
                <a:r>
                  <a:rPr lang="sv-SE" dirty="0" err="1"/>
                  <a:t>latitude</a:t>
                </a:r>
                <a:r>
                  <a:rPr lang="sv-SE" dirty="0"/>
                  <a:t>), </a:t>
                </a:r>
                <a:r>
                  <a:rPr lang="el-G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Ψ</a:t>
                </a:r>
                <a:r>
                  <a:rPr lang="sv-SE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_𝑑𝑖𝑟</a:t>
                </a:r>
                <a:r>
                  <a:rPr lang="sv-SE" dirty="0"/>
                  <a:t> and</a:t>
                </a:r>
                <a:r>
                  <a:rPr lang="sv-SE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〖 </a:t>
                </a:r>
                <a:r>
                  <a:rPr lang="el-G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Ψ</a:t>
                </a:r>
                <a:r>
                  <a:rPr lang="sv-SE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〗_𝑑𝑖𝑓</a:t>
                </a:r>
                <a:r>
                  <a:rPr lang="sv-SE" dirty="0"/>
                  <a:t> </a:t>
                </a:r>
                <a:r>
                  <a:rPr lang="sv-SE" dirty="0" err="1"/>
                  <a:t>direct</a:t>
                </a:r>
                <a:r>
                  <a:rPr lang="sv-SE" dirty="0"/>
                  <a:t> and diffuse</a:t>
                </a:r>
                <a:r>
                  <a:rPr lang="sv-SE" baseline="0" dirty="0"/>
                  <a:t> </a:t>
                </a:r>
                <a:r>
                  <a:rPr lang="sv-SE" baseline="0" dirty="0" err="1"/>
                  <a:t>radiation</a:t>
                </a:r>
                <a:r>
                  <a:rPr lang="sv-SE" baseline="0" dirty="0"/>
                  <a:t> </a:t>
                </a:r>
                <a:r>
                  <a:rPr lang="sv-SE" baseline="0" dirty="0" err="1"/>
                  <a:t>scaling</a:t>
                </a:r>
                <a:r>
                  <a:rPr lang="sv-SE" baseline="0" dirty="0"/>
                  <a:t> </a:t>
                </a:r>
                <a:r>
                  <a:rPr lang="sv-SE" baseline="0" dirty="0" err="1"/>
                  <a:t>values</a:t>
                </a:r>
                <a:endParaRPr lang="sv-SE" baseline="0" dirty="0"/>
              </a:p>
              <a:p>
                <a:endParaRPr lang="sv-SE" baseline="0" dirty="0"/>
              </a:p>
              <a:p>
                <a:r>
                  <a:rPr lang="sv-SE" baseline="0" dirty="0"/>
                  <a:t>For precipitation: </a:t>
                </a:r>
                <a:r>
                  <a:rPr lang="en-US" dirty="0"/>
                  <a:t>the model splits rainfall into smaller time periods. It uses patterns learned from real data. From this data, it knows things like: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sometimes rain falls mostly in one short period,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sometimes it is spread more evenly,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sometimes one time step gets all the rain, and the next gets none. </a:t>
                </a:r>
              </a:p>
              <a:p>
                <a:r>
                  <a:rPr lang="en-US" dirty="0"/>
                  <a:t>These patterns are turned into probabilities and weights. Then, during disaggregation, the model randomly chooses how to split the rain based on those probabilities.</a:t>
                </a:r>
              </a:p>
              <a:p>
                <a:endParaRPr lang="sv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5112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0681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10818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79394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8294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/>
              <a:t>July</a:t>
            </a:r>
            <a:r>
              <a:rPr lang="sv-SE" dirty="0"/>
              <a:t> 2021</a:t>
            </a:r>
          </a:p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7221C-8ECB-4574-8B25-5EEAAFB8C9F5}" type="slidenum">
              <a:rPr lang="sv-SE" smtClean="0"/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07798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CC612-6F6C-4898-8A55-68DFC08E6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D4ECD-78B1-458A-B097-7D6C7AB5E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DD4DB-B888-4FF1-828A-C3D555DF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BD81F-DEFD-4162-8282-DB70085A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CA91-F226-43FE-A75A-ABB8A4F2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03431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3D10-E60A-4B81-BC49-9E939797A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7D06-1846-4B8C-8825-A9EDD63FA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161E-E86D-4CE2-8FD1-238785AAE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66E6A-FA90-4C94-ACDF-8FE346897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C4DAD-52BD-4E76-8822-A3EADA43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7563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EEE5-4B9E-4615-BBFE-4549681B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DF39F-038D-4036-8FF7-A4D5B84A4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A45F4-DDF7-42E5-BBC4-E69F8AFE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14FFB-5A2B-411E-B807-9FC36CFC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F65E8-F6C1-4A3C-889F-FC278E1E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565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A684-7977-4965-BC6A-5070C0D5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F219-87C3-40DF-8081-21163C43C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BE96A-F7A0-4D47-BF8E-D446EA30B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AB447-60F9-453B-B902-29CAFE191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A46CF-FB9E-4F75-A2DF-60C0C2AF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30480-3D00-4DD4-923D-176AA790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4003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8BCD-8300-4AD8-B84A-5D882803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7E5E4-06E0-4611-8278-1CCF35E8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AA393-BE07-4970-A4AD-5E0D43CD4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FD9B5-5524-4BA7-8C5F-448E478EF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54D87-DCFF-485D-A289-861C079917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0686A-ADEA-4838-9454-333937A5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DC9CFF-F42E-4A53-9648-841C39F2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A686D-6757-44B4-B5C2-932D3519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1682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AB11-1AB9-4976-8DE8-A29BC7F2F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D7F63-5D3A-40E4-8745-718EF40B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D94BD-3208-4DB9-A244-34E92B72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BF946-985D-4C27-881F-67BA7FF7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8337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442960-8AA0-4F3C-9C14-C25EB44E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D721B-717D-40DE-8EC4-D1AD522C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8F32-9477-423E-A1FA-E13DE263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178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0DF09-4F41-4D44-A6F6-67166C23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D2145-17AD-4062-9A69-6DFD89E38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A24D1-E04B-486D-9C24-EDEEC749A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EF65CD-42A6-45BD-83F1-B92EF0A5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EC448-12AF-4C51-A7E7-4D392C01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BDB7F-A1B7-4A02-9E5A-222BDF05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6706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39F40-E4DD-48A9-9C80-339D2FC72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45842-9E21-4944-9DD4-3A82D0D33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FA0E3-42F8-4AE3-9359-6FADD84C4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32F2B-9145-4E9E-AF55-0CCDACC0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6F38B-5BB4-4B22-BE72-41E07A82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A643D-C876-4418-8F9D-EDBC6972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449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7143B-CE3B-4F92-BC27-7063FA2C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94E6D-0631-477B-B78E-AF4971AEB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31664-6274-4849-BB6E-E18EB576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A307A-B73F-4698-A6B7-789A555A3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029F8-EBA8-4478-98BC-FD83D6253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82543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FA8E1-7A83-48D2-99EF-1F3C5725FD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F645F-BF14-4C7C-B8DA-D31FC9742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084AF-3DB4-4638-AB52-F514A3593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94376-FCA2-4030-9C6E-685F0BD9C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9DCFA-1389-46AD-87D2-95573F60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941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920993-A560-4357-8EB7-C3686C57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D2BA1-F0F5-414E-9405-406C383A5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1F54F-B25E-4215-A21A-F1272593A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94EC6-1B97-4F8A-893E-195BE3F7813C}" type="datetimeFigureOut">
              <a:rPr lang="sv-SE" smtClean="0"/>
              <a:t>2026-04-17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AFA0B-04DB-455E-93D9-88F48B6052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9244F-F5B4-4C73-B26B-AB5347362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2D1E7-671D-48A4-9BCF-B6F87B112A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3144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hess-24-3311-202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doi.org/10.5194/hess-24-3311-2020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hess-24-3311-202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hess-24-3311-202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hess-24-3311-202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hess-24-3311-202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hess-24-3311-202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5194/gmd-16-5383-2023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hyperlink" Target="https://doi.org/10.5194/gmd-16-5383-2023" TargetMode="Externa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hyperlink" Target="https://doi.org/10.5194/gmd-16-5383-202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194/gmd-16-5383-2023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82EC-0602-4E7C-A27E-1680F0C35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v-SE" sz="4000" dirty="0"/>
              <a:t>Temporal climate downscaling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E75F9-AA6B-487F-8FF7-FAC3F96DE6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sv-SE" sz="2000" dirty="0"/>
              <a:t>Ana I. Ayala </a:t>
            </a:r>
          </a:p>
          <a:p>
            <a:r>
              <a:rPr lang="sv-SE" sz="1800" dirty="0"/>
              <a:t>2026-04-14</a:t>
            </a:r>
          </a:p>
        </p:txBody>
      </p:sp>
    </p:spTree>
    <p:extLst>
      <p:ext uri="{BB962C8B-B14F-4D97-AF65-F5344CB8AC3E}">
        <p14:creationId xmlns:p14="http://schemas.microsoft.com/office/powerpoint/2010/main" val="1357623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8E75-9A38-45A1-993E-AC26A437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2000" dirty="0">
                <a:latin typeface="+mn-lt"/>
              </a:rPr>
              <a:t>Method 1: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(GRNN-based approach, following Ayala et al., 2020 </a:t>
            </a:r>
            <a:r>
              <a:rPr lang="en-GB" sz="2000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https://doi.org/10.5194/hess-24-3311-2020</a:t>
            </a:r>
            <a:endParaRPr lang="sv-SE" sz="2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080A345-054C-496C-8C79-0B1D59EC6D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860425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sv-SE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𝑅𝐻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𝑆𝑊𝑅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𝑊𝑆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sv-SE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𝑅𝐻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𝑆𝑊𝑅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𝑊𝑆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func>
                            <m:func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sv-SE" sz="20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func>
                                <m:funcPr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sv-SE" sz="20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unc>
                                    <m:funcPr>
                                      <m:ctrlP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sv-SE" sz="20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𝑑𝑜𝑦</m:t>
                                          </m:r>
                                        </m:e>
                                      </m:d>
                                      <m:r>
                                        <a:rPr lang="sv-SE" sz="2000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func>
                                        <m:funcPr>
                                          <m:ctrlP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sv-SE" sz="2000" b="0" i="0" smtClean="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𝑑𝑜𝑦</m:t>
                                              </m:r>
                                            </m:e>
                                          </m:d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𝑑𝑎𝑦𝑙𝑖𝑔h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𝑓𝑙𝑎𝑔</m:t>
                                              </m:r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𝑠𝑢𝑛𝑟𝑖𝑠𝑒</m:t>
                                              </m:r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𝑠𝑢𝑛𝑠𝑒𝑡</m:t>
                                              </m:r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  <m:r>
                                            <a:rPr lang="sv-SE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func>
                        </m:e>
                      </m:d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080A345-054C-496C-8C79-0B1D59EC6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860425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AA81F6-10B7-40B2-AD95-DFA61619D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603210"/>
              </p:ext>
            </p:extLst>
          </p:nvPr>
        </p:nvGraphicFramePr>
        <p:xfrm>
          <a:off x="1165302" y="2686050"/>
          <a:ext cx="3365500" cy="2011680"/>
        </p:xfrm>
        <a:graphic>
          <a:graphicData uri="http://schemas.openxmlformats.org/drawingml/2006/table">
            <a:tbl>
              <a:tblPr/>
              <a:tblGrid>
                <a:gridCol w="927100">
                  <a:extLst>
                    <a:ext uri="{9D8B030D-6E8A-4147-A177-3AD203B41FA5}">
                      <a16:colId xmlns:a16="http://schemas.microsoft.com/office/drawing/2014/main" val="35231641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4222397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198768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804683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8062064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sv-S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128229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Tair (°C)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0.1841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8059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1.4350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0.9858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682941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RH (%)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1.3719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9521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6.3331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0.8748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168642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SWRin (W/m2)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19.7664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0.9884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0019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47.1882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0.9682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73194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 (m/s)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0.2395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20195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0.8646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0.7447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736777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 (mm/h)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0.8043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0.6185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2798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0.3179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0.6673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96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757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8E75-9A38-45A1-993E-AC26A437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sz="2000" dirty="0">
                <a:latin typeface="+mn-lt"/>
              </a:rPr>
              <a:t>Method 1: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(GRNN-based approach, following Ayala et al., 2020 </a:t>
            </a:r>
            <a:r>
              <a:rPr lang="en-GB" sz="2000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https://doi.org/10.5194/hess-24-3311-2020</a:t>
            </a:r>
            <a:endParaRPr lang="sv-SE" sz="20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3359B5-5952-4D92-9C9C-5021B359C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4137736" cy="2275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B64696-32E4-4AA6-B367-40683F114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888" y="1690688"/>
            <a:ext cx="4137736" cy="22757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371F60-A271-4E54-9457-0D08644049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762" y="1690687"/>
            <a:ext cx="4137736" cy="22757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E18E412-9398-4640-9A31-BA4E6A8355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2" y="3966442"/>
            <a:ext cx="4137736" cy="2275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41BBE6-2E09-4EB5-9352-9E41C3E183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189" y="3965083"/>
            <a:ext cx="4137736" cy="227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88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2BF13E-BAA8-4C57-90D1-B5CB955C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 sz="2000" dirty="0">
                <a:latin typeface="+mn-lt"/>
              </a:rPr>
              <a:t>Method 1: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(GRNN-based approach, following Ayala et al., 2020 </a:t>
            </a:r>
            <a:r>
              <a:rPr lang="en-GB" sz="2000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https://doi.org/10.5194/hess-24-3311-2020</a:t>
            </a:r>
            <a:endParaRPr lang="sv-SE" sz="20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A84400-16B3-4B8E-BAA7-D018F6BDB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5376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5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2BF13E-BAA8-4C57-90D1-B5CB955C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 sz="2000" dirty="0">
                <a:latin typeface="+mn-lt"/>
              </a:rPr>
              <a:t>Method 1: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(GRNN-based approach, following Ayala et al., 2020 </a:t>
            </a:r>
            <a:r>
              <a:rPr lang="en-GB" sz="2000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https://doi.org/10.5194/hess-24-3311-2020</a:t>
            </a:r>
            <a:endParaRPr lang="sv-SE" sz="20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D8E2BF-31FF-4443-8B6A-4FA10AA25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283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14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2BF13E-BAA8-4C57-90D1-B5CB955C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 sz="2000" dirty="0">
                <a:latin typeface="+mn-lt"/>
              </a:rPr>
              <a:t>Method 1: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(GRNN-based approach, following Ayala et al., 2020 </a:t>
            </a:r>
            <a:r>
              <a:rPr lang="en-GB" sz="2000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https://doi.org/10.5194/hess-24-3311-2020</a:t>
            </a:r>
            <a:endParaRPr lang="sv-SE" sz="20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F037B-5490-4961-A84D-21E0DB2E2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0" y="1431983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07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2BF13E-BAA8-4C57-90D1-B5CB955C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 sz="2000" dirty="0">
                <a:latin typeface="+mn-lt"/>
              </a:rPr>
              <a:t>Method 1: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(GRNN-based approach, following Ayala et al., 2020 </a:t>
            </a:r>
            <a:r>
              <a:rPr lang="en-GB" sz="2000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https://doi.org/10.5194/hess-24-3311-2020</a:t>
            </a:r>
            <a:endParaRPr lang="sv-SE" sz="20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58C12-378C-4320-9C1F-7A38AF99A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235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4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2BF13E-BAA8-4C57-90D1-B5CB955C1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 sz="2000" dirty="0">
                <a:latin typeface="+mn-lt"/>
              </a:rPr>
              <a:t>Method 1: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(GRNN-based approach, following Ayala et al., 2020 </a:t>
            </a:r>
            <a:r>
              <a:rPr lang="en-GB" sz="2000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https://doi.org/10.5194/hess-24-3311-2020</a:t>
            </a:r>
            <a:endParaRPr lang="sv-SE" sz="2000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D8043-6D4E-4642-9E7A-EBC1229E3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5" y="1374354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1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794B-D8E0-4FCE-BAE7-D56D876D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76895" cy="531812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2 (Teddy tool,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7152E16-E28B-4657-AE99-C05CB3618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1490" y="1457942"/>
                <a:ext cx="6526460" cy="4873625"/>
              </a:xfrm>
            </p:spPr>
            <p:txBody>
              <a:bodyPr/>
              <a:lstStyle/>
              <a:p>
                <a:pPr lvl="1" indent="-284400"/>
                <a:r>
                  <a:rPr lang="sv-SE" sz="1600" dirty="0"/>
                  <a:t>Precipitation class: (dry day: Pr &lt; 1mm -&gt; 0, wet day: Pr ≥ 1mm -&gt; 1)</a:t>
                </a:r>
              </a:p>
              <a:p>
                <a:pPr lvl="1" indent="-284400"/>
                <a:r>
                  <a:rPr lang="sv-SE" sz="1600" dirty="0"/>
                  <a:t>Full 3-day sequence: (Pr[day-1], Pr[day], Pr[day-1]), example (1, 0, 1)</a:t>
                </a:r>
              </a:p>
              <a:p>
                <a:pPr lvl="1" indent="-284400"/>
                <a:r>
                  <a:rPr lang="sv-SE" sz="1600" dirty="0"/>
                  <a:t>Day-of-</a:t>
                </a:r>
                <a:r>
                  <a:rPr lang="sv-SE" sz="1600" dirty="0" err="1"/>
                  <a:t>year</a:t>
                </a:r>
                <a:r>
                  <a:rPr lang="sv-SE" sz="1600" dirty="0"/>
                  <a:t> </a:t>
                </a:r>
                <a:r>
                  <a:rPr lang="sv-SE" sz="1600" dirty="0" err="1"/>
                  <a:t>matching</a:t>
                </a:r>
                <a:r>
                  <a:rPr lang="sv-SE" sz="1600" dirty="0"/>
                  <a:t> </a:t>
                </a:r>
                <a:r>
                  <a:rPr lang="sv-SE" sz="1600" dirty="0" err="1"/>
                  <a:t>window</a:t>
                </a:r>
                <a:endParaRPr lang="sv-SE" sz="1600" dirty="0"/>
              </a:p>
              <a:p>
                <a:pPr lvl="2" indent="-284400"/>
                <a:r>
                  <a:rPr lang="en-US" sz="1600" dirty="0"/>
                  <a:t>±11 days around target </a:t>
                </a:r>
                <a:r>
                  <a:rPr lang="en-US" sz="1600" dirty="0" err="1"/>
                  <a:t>doy</a:t>
                </a:r>
                <a:endParaRPr lang="en-US" sz="1600" dirty="0"/>
              </a:p>
              <a:p>
                <a:pPr lvl="2" indent="-284400"/>
                <a:r>
                  <a:rPr lang="en-US" sz="1600" dirty="0"/>
                  <a:t>Expanded window (if no match found): ±50 days </a:t>
                </a:r>
              </a:p>
              <a:p>
                <a:pPr lvl="3" indent="-284400"/>
                <a:r>
                  <a:rPr lang="sv-SE" sz="1600" dirty="0"/>
                  <a:t>(Pr[day-1], Pr[day], Pr[day-1])</a:t>
                </a:r>
              </a:p>
              <a:p>
                <a:pPr lvl="3" indent="-284400"/>
                <a:r>
                  <a:rPr lang="sv-SE" sz="1600" dirty="0"/>
                  <a:t>(Pr[day-1], Pr[day]) or (Pr[day-1], Pr[day]) </a:t>
                </a:r>
              </a:p>
              <a:p>
                <a:pPr lvl="3" indent="-284400"/>
                <a:r>
                  <a:rPr lang="sv-SE" sz="1600" dirty="0"/>
                  <a:t>(Pr[day])</a:t>
                </a:r>
              </a:p>
              <a:p>
                <a:pPr lvl="3" indent="-284400"/>
                <a:r>
                  <a:rPr lang="sv-SE" sz="1600" dirty="0"/>
                  <a:t>No precipitation</a:t>
                </a:r>
              </a:p>
              <a:p>
                <a:pPr lvl="1" indent="-284400"/>
                <a:r>
                  <a:rPr lang="sv-SE" sz="1600" dirty="0" err="1"/>
                  <a:t>Similarity</a:t>
                </a:r>
                <a:r>
                  <a:rPr lang="sv-SE" sz="1600" dirty="0"/>
                  <a:t> ranking (for </a:t>
                </a:r>
                <a:r>
                  <a:rPr lang="sv-SE" sz="1600" dirty="0" err="1"/>
                  <a:t>each</a:t>
                </a:r>
                <a:r>
                  <a:rPr lang="sv-SE" sz="1600" dirty="0"/>
                  <a:t> </a:t>
                </a:r>
                <a:r>
                  <a:rPr lang="sv-SE" sz="1600" dirty="0" err="1"/>
                  <a:t>candidate</a:t>
                </a:r>
                <a:r>
                  <a:rPr lang="sv-SE" sz="1600" dirty="0"/>
                  <a:t>)</a:t>
                </a:r>
              </a:p>
              <a:p>
                <a:pPr lvl="2" indent="-284400"/>
                <a:r>
                  <a:rPr lang="sv-SE" sz="1600" dirty="0"/>
                  <a:t>Absolute </a:t>
                </a:r>
                <a:r>
                  <a:rPr lang="sv-SE" sz="1600" dirty="0" err="1"/>
                  <a:t>error</a:t>
                </a:r>
                <a:r>
                  <a:rPr lang="sv-SE" sz="1600" dirty="0"/>
                  <a:t>: Tair, RH, SWRin, WS, Pr</a:t>
                </a:r>
              </a:p>
              <a:p>
                <a:pPr lvl="2" indent="-284400"/>
                <a:r>
                  <a:rPr lang="sv-SE" sz="1600" dirty="0"/>
                  <a:t>Rank </a:t>
                </a:r>
                <a:r>
                  <a:rPr lang="sv-SE" sz="1600" dirty="0" err="1"/>
                  <a:t>each</a:t>
                </a:r>
                <a:r>
                  <a:rPr lang="sv-SE" sz="1600" dirty="0"/>
                  <a:t> </a:t>
                </a:r>
                <a:r>
                  <a:rPr lang="sv-SE" sz="1600" dirty="0" err="1"/>
                  <a:t>varible</a:t>
                </a:r>
                <a:r>
                  <a:rPr lang="sv-SE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sv-SE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sv-SE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sv-SE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1600" b="0" i="1" smtClean="0">
                                    <a:latin typeface="Cambria Math" panose="02040503050406030204" pitchFamily="18" charset="0"/>
                                  </a:rPr>
                                  <m:t>𝑟𝑒𝑓</m:t>
                                </m:r>
                              </m:sub>
                            </m:sSub>
                            <m:r>
                              <a:rPr lang="sv-SE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sv-SE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sv-SE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sz="1600" b="0" i="1" smtClean="0">
                                    <a:latin typeface="Cambria Math" panose="02040503050406030204" pitchFamily="18" charset="0"/>
                                  </a:rPr>
                                  <m:t>𝑡𝑎𝑟𝑔𝑒𝑡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sv-SE" sz="1600" b="0" dirty="0"/>
              </a:p>
              <a:p>
                <a:pPr lvl="2" indent="-284400"/>
                <a:r>
                  <a:rPr lang="sv-SE" sz="1600" dirty="0" err="1"/>
                  <a:t>Aggregate</a:t>
                </a:r>
                <a:r>
                  <a:rPr lang="sv-SE" sz="1600" dirty="0"/>
                  <a:t> score: </a:t>
                </a:r>
                <a14:m>
                  <m:oMath xmlns:m="http://schemas.openxmlformats.org/officeDocument/2006/math"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sv-SE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sv-SE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sv-SE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sv-SE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sv-SE" sz="1600" dirty="0"/>
              </a:p>
              <a:p>
                <a:pPr lvl="1" indent="-284400"/>
                <a:r>
                  <a:rPr lang="en-US" sz="1600" dirty="0"/>
                  <a:t>Select best-matching reference day: </a:t>
                </a:r>
                <a:r>
                  <a:rPr lang="sv-SE" sz="1600" dirty="0"/>
                  <a:t>Minimum rank </a:t>
                </a:r>
                <a:r>
                  <a:rPr lang="sv-SE" sz="1600" dirty="0" err="1"/>
                  <a:t>sum</a:t>
                </a:r>
                <a:endParaRPr lang="en-US" sz="1600" dirty="0"/>
              </a:p>
              <a:p>
                <a:pPr lvl="1"/>
                <a:endParaRPr lang="sv-SE" sz="1600" dirty="0"/>
              </a:p>
              <a:p>
                <a:pPr lvl="2"/>
                <a:endParaRPr lang="sv-SE" sz="1200" dirty="0"/>
              </a:p>
              <a:p>
                <a:pPr marL="914400" lvl="2" indent="0">
                  <a:buNone/>
                </a:pPr>
                <a:endParaRPr lang="en-US" sz="1200" dirty="0"/>
              </a:p>
              <a:p>
                <a:pPr lvl="1"/>
                <a:endParaRPr lang="sv-SE" sz="1600" dirty="0"/>
              </a:p>
              <a:p>
                <a:pPr lvl="3" algn="r"/>
                <a:endParaRPr lang="sv-SE" sz="1400" dirty="0"/>
              </a:p>
              <a:p>
                <a:pPr lvl="2"/>
                <a:endParaRPr lang="en-US" sz="1400" dirty="0"/>
              </a:p>
              <a:p>
                <a:pPr lvl="3"/>
                <a:endParaRPr lang="sv-SE" sz="1400" dirty="0"/>
              </a:p>
              <a:p>
                <a:endParaRPr lang="sv-SE" sz="1600" dirty="0"/>
              </a:p>
              <a:p>
                <a:pPr marL="0" indent="0">
                  <a:buNone/>
                </a:pPr>
                <a:endParaRPr lang="sv-SE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7152E16-E28B-4657-AE99-C05CB3618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490" y="1457942"/>
                <a:ext cx="6526460" cy="4873625"/>
              </a:xfrm>
              <a:blipFill>
                <a:blip r:embed="rId4"/>
                <a:stretch>
                  <a:fillRect t="-87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76AB67D-02A9-4300-BBAB-53C3073FEFC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7196485" y="1457941"/>
                <a:ext cx="4624025" cy="4873625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sv-SE" dirty="0"/>
                  <a:t>Hourly </a:t>
                </a:r>
                <a:r>
                  <a:rPr lang="sv-SE" dirty="0" err="1"/>
                  <a:t>pattern</a:t>
                </a:r>
                <a:r>
                  <a:rPr lang="sv-SE" dirty="0"/>
                  <a:t> </a:t>
                </a:r>
                <a:r>
                  <a:rPr lang="sv-SE" dirty="0" err="1"/>
                  <a:t>extraction</a:t>
                </a:r>
                <a:r>
                  <a:rPr lang="sv-SE" dirty="0"/>
                  <a:t> and </a:t>
                </a:r>
                <a:r>
                  <a:rPr lang="sv-SE" dirty="0" err="1"/>
                  <a:t>normalization</a:t>
                </a:r>
                <a:r>
                  <a:rPr lang="sv-SE" dirty="0"/>
                  <a:t> of </a:t>
                </a:r>
                <a:r>
                  <a:rPr lang="sv-SE" dirty="0" err="1"/>
                  <a:t>diurnal</a:t>
                </a:r>
                <a:r>
                  <a:rPr lang="sv-SE" dirty="0"/>
                  <a:t> </a:t>
                </a:r>
                <a:r>
                  <a:rPr lang="sv-SE" dirty="0" err="1"/>
                  <a:t>shapes</a:t>
                </a:r>
                <a:r>
                  <a:rPr lang="sv-SE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1600" dirty="0"/>
                  <a:t>Non-</a:t>
                </a:r>
                <a:r>
                  <a:rPr lang="sv-SE" sz="1600" dirty="0" err="1"/>
                  <a:t>precip</a:t>
                </a:r>
                <a:r>
                  <a:rPr lang="sv-SE" sz="1600" dirty="0"/>
                  <a:t> </a:t>
                </a:r>
                <a:r>
                  <a:rPr lang="sv-SE" sz="1600" dirty="0" err="1"/>
                  <a:t>variables</a:t>
                </a:r>
                <a:r>
                  <a:rPr lang="sv-SE" sz="1600" dirty="0"/>
                  <a:t>: </a:t>
                </a:r>
                <a:r>
                  <a:rPr lang="sv-SE" sz="1600" dirty="0" err="1"/>
                  <a:t>normalized</a:t>
                </a:r>
                <a:r>
                  <a:rPr lang="sv-SE" sz="1600" dirty="0"/>
                  <a:t> by </a:t>
                </a:r>
                <a:r>
                  <a:rPr lang="sv-SE" sz="1600" dirty="0" err="1"/>
                  <a:t>mean</a:t>
                </a:r>
                <a:endParaRPr lang="sv-SE" sz="16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1600" dirty="0" err="1"/>
                  <a:t>Precipiation</a:t>
                </a:r>
                <a:r>
                  <a:rPr lang="sv-SE" sz="1600" dirty="0"/>
                  <a:t>: </a:t>
                </a:r>
                <a:r>
                  <a:rPr lang="sv-SE" sz="1600" dirty="0" err="1"/>
                  <a:t>normalized</a:t>
                </a:r>
                <a:r>
                  <a:rPr lang="sv-SE" sz="1600" dirty="0"/>
                  <a:t> by total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𝑇𝑎𝑖𝑟</m:t>
                        </m:r>
                      </m:sub>
                    </m:sSub>
                    <m:d>
                      <m:d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𝑅𝐻</m:t>
                        </m:r>
                      </m:sub>
                    </m:sSub>
                    <m:d>
                      <m:d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𝑆𝑊𝑅𝑖𝑛</m:t>
                        </m:r>
                      </m:sub>
                    </m:sSub>
                    <m:d>
                      <m:d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𝑊𝑆</m:t>
                        </m:r>
                      </m:sub>
                    </m:sSub>
                    <m:d>
                      <m:d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𝑃𝑟</m:t>
                        </m:r>
                      </m:sub>
                    </m:sSub>
                    <m:d>
                      <m:d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sv-SE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sv-SE" dirty="0" err="1"/>
                  <a:t>Reconstruction</a:t>
                </a:r>
                <a:r>
                  <a:rPr lang="sv-SE" dirty="0"/>
                  <a:t> of </a:t>
                </a:r>
                <a:r>
                  <a:rPr lang="sv-SE" dirty="0" err="1"/>
                  <a:t>hourly</a:t>
                </a:r>
                <a:r>
                  <a:rPr lang="sv-SE" dirty="0"/>
                  <a:t> climate: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sv-SE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v-SE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sv-S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sv-S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sv-S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sv-S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sv-SE" sz="16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1600" dirty="0" err="1"/>
                  <a:t>Physical</a:t>
                </a:r>
                <a:r>
                  <a:rPr lang="sv-SE" sz="1600" dirty="0"/>
                  <a:t> </a:t>
                </a:r>
                <a:r>
                  <a:rPr lang="sv-SE" sz="1600" dirty="0" err="1"/>
                  <a:t>corrections</a:t>
                </a:r>
                <a:endParaRPr lang="sv-SE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sv-SE" sz="1600" dirty="0"/>
                  <a:t>Tair: </a:t>
                </a:r>
                <a:r>
                  <a:rPr lang="sv-SE" sz="1600" dirty="0" err="1"/>
                  <a:t>constrained</a:t>
                </a:r>
                <a:r>
                  <a:rPr lang="sv-SE" sz="1600" dirty="0"/>
                  <a:t> to </a:t>
                </a:r>
                <a:r>
                  <a:rPr lang="sv-SE" sz="1600" dirty="0" err="1"/>
                  <a:t>Tmin</a:t>
                </a:r>
                <a:r>
                  <a:rPr lang="sv-SE" sz="1600" dirty="0"/>
                  <a:t>, </a:t>
                </a:r>
                <a:r>
                  <a:rPr lang="sv-SE" sz="1600" dirty="0" err="1"/>
                  <a:t>Tmax</a:t>
                </a:r>
                <a:endParaRPr lang="sv-SE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sv-SE" sz="1600" dirty="0"/>
                  <a:t>RH: </a:t>
                </a:r>
                <a:r>
                  <a:rPr lang="sv-SE" sz="1600" dirty="0" err="1"/>
                  <a:t>bounded</a:t>
                </a:r>
                <a:r>
                  <a:rPr lang="sv-SE" sz="1600" dirty="0"/>
                  <a:t> [0, 100]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sv-SE" sz="1600" dirty="0"/>
                  <a:t>SWRin: </a:t>
                </a:r>
                <a:r>
                  <a:rPr lang="sv-SE" sz="1600" dirty="0" err="1"/>
                  <a:t>limited</a:t>
                </a:r>
                <a:r>
                  <a:rPr lang="sv-SE" sz="1600" dirty="0"/>
                  <a:t> to </a:t>
                </a:r>
                <a:r>
                  <a:rPr lang="sv-SE" sz="1600" dirty="0" err="1"/>
                  <a:t>clear</a:t>
                </a:r>
                <a:r>
                  <a:rPr lang="sv-SE" sz="1600" dirty="0"/>
                  <a:t>-sky potential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sv-SE" sz="1600" dirty="0"/>
                  <a:t>Precipitation handling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sv-SE" sz="1600" dirty="0"/>
                  <a:t>Dry day: All </a:t>
                </a:r>
                <a:r>
                  <a:rPr lang="sv-SE" sz="1600" dirty="0" err="1"/>
                  <a:t>hourly</a:t>
                </a:r>
                <a:r>
                  <a:rPr lang="sv-SE" sz="1600" dirty="0"/>
                  <a:t> Pr = 0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sv-SE" sz="1600" dirty="0"/>
                  <a:t>Wet day: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sv-SE" sz="1600" dirty="0" err="1"/>
                  <a:t>Use</a:t>
                </a:r>
                <a:r>
                  <a:rPr lang="sv-SE" sz="1600" dirty="0"/>
                  <a:t> </a:t>
                </a:r>
                <a:r>
                  <a:rPr lang="sv-SE" sz="1600" dirty="0" err="1"/>
                  <a:t>reference</a:t>
                </a:r>
                <a:r>
                  <a:rPr lang="sv-SE" sz="1600" dirty="0"/>
                  <a:t> </a:t>
                </a:r>
                <a:r>
                  <a:rPr lang="sv-SE" sz="1600" dirty="0" err="1"/>
                  <a:t>hourly</a:t>
                </a:r>
                <a:r>
                  <a:rPr lang="sv-SE" sz="1600" dirty="0"/>
                  <a:t> distribution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sv-SE" sz="1600" dirty="0"/>
                  <a:t>If </a:t>
                </a:r>
                <a:r>
                  <a:rPr lang="sv-SE" sz="1600" dirty="0" err="1"/>
                  <a:t>unavailable</a:t>
                </a:r>
                <a:r>
                  <a:rPr lang="sv-SE" sz="1600" dirty="0"/>
                  <a:t>: </a:t>
                </a:r>
                <a:r>
                  <a:rPr lang="sv-SE" sz="1600" dirty="0" err="1"/>
                  <a:t>stochastic</a:t>
                </a:r>
                <a:r>
                  <a:rPr lang="sv-SE" sz="1600" dirty="0"/>
                  <a:t> event </a:t>
                </a:r>
                <a:r>
                  <a:rPr lang="sv-SE" sz="1600" dirty="0" err="1"/>
                  <a:t>model</a:t>
                </a:r>
                <a:endParaRPr lang="sv-SE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sv-SE" sz="16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endParaRPr lang="sv-SE" sz="16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sv-SE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76AB67D-02A9-4300-BBAB-53C3073FE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7196485" y="1457941"/>
                <a:ext cx="4624025" cy="4873625"/>
              </a:xfrm>
              <a:blipFill>
                <a:blip r:embed="rId5"/>
                <a:stretch>
                  <a:fillRect l="-528" t="-87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4251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9AC9C8-8F9B-480D-92C5-AC84026E9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93119"/>
              </p:ext>
            </p:extLst>
          </p:nvPr>
        </p:nvGraphicFramePr>
        <p:xfrm>
          <a:off x="957741" y="1304257"/>
          <a:ext cx="2730500" cy="109728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136792945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783957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53385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3294325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sv-S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7395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Tair (°C)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1.8456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0.9742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0.9483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1450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RH (%)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9.2965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0.8671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0.7439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258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SWRin (W/m2)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67.9083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0.8674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6563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 (m/s)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1255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 (mm/h)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0.5032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-0.6497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943327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B2961A0-8D9A-4E09-ACBB-A8D5BBED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360" y="3663724"/>
            <a:ext cx="3194276" cy="31942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454479-1868-4079-82D6-7C406E221C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079" y="3663724"/>
            <a:ext cx="3194276" cy="31942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9538D4-B4BE-47C6-9213-012CE5B617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588" y="3663724"/>
            <a:ext cx="3194276" cy="31942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143F26-3AA5-4411-AA66-4FBA092741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724" y="648226"/>
            <a:ext cx="3194276" cy="31942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6903C7-C08F-4FBA-8499-1743349087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52" y="648226"/>
            <a:ext cx="3194276" cy="3194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6794B-D8E0-4FCE-BAE7-D56D876D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53013"/>
            <a:ext cx="10576895" cy="531812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2 (Teddy tool,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8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</p:spTree>
    <p:extLst>
      <p:ext uri="{BB962C8B-B14F-4D97-AF65-F5344CB8AC3E}">
        <p14:creationId xmlns:p14="http://schemas.microsoft.com/office/powerpoint/2010/main" val="2714339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794B-D8E0-4FCE-BAE7-D56D876D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76895" cy="531812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2 (Teddy tool,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33D21B-0C3B-4BBC-AF4A-DE16EEED1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" y="989012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640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794B-D8E0-4FCE-BAE7-D56D876D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76895" cy="531812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2 (Teddy tool,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A6DAE9-8835-480F-8C79-7E1AAAF7FA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" y="918299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39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794B-D8E0-4FCE-BAE7-D56D876D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76895" cy="531812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2 (Teddy tool,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CFA19F-3140-4C10-8A5B-6399029C2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" y="1018708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42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794B-D8E0-4FCE-BAE7-D56D876D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76895" cy="531812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2 (Teddy tool,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52FA5-B574-4AF9-9E07-FCFD3D4BC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" y="971256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50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794B-D8E0-4FCE-BAE7-D56D876D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76895" cy="531812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2 (Teddy tool,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D48E33-4263-4F77-B4D3-8B4CC2416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60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A4D2076-F17D-4408-BF60-66456A41C1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137579"/>
              </p:ext>
            </p:extLst>
          </p:nvPr>
        </p:nvGraphicFramePr>
        <p:xfrm>
          <a:off x="950897" y="1417320"/>
          <a:ext cx="3454400" cy="201168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5417320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8494729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446223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3063766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3555542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endParaRPr lang="sv-S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sv-SE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448683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rtl="0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Tair (°C)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1.7117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0.9318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0.9587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04341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1.7786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0.9438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0.9544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1822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rtl="0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RH (%)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15.2817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0.5147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0.2037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65254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16.1444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0.5575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599732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rtl="0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SWRin (W/m2)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53.7937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0.9571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0.9160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41582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51.9207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0.9605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756587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rtl="0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 (m/s)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1.3933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0.7954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57847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1.3579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0.8078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0.6525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461573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algn="l" rtl="0" fontAlgn="t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 (mm/h)</a:t>
                      </a:r>
                    </a:p>
                  </a:txBody>
                  <a:tcPr marL="7620" marR="7620" marT="762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0.4556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0.1939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-0.5063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96444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0.4721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-0.4530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804794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7AC2B99F-FEE8-4590-B948-49A0203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3 (MELODIST,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818DDA-0380-45B5-A9F1-AE74A4002E52}"/>
                  </a:ext>
                </a:extLst>
              </p:cNvPr>
              <p:cNvSpPr txBox="1"/>
              <p:nvPr/>
            </p:nvSpPr>
            <p:spPr>
              <a:xfrm>
                <a:off x="838200" y="3978553"/>
                <a:ext cx="5433795" cy="650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sv-SE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sv-S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∙</m:t>
                                      </m:r>
                                      <m:d>
                                        <m:dPr>
                                          <m:ctrlPr>
                                            <a:rPr lang="sv-S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sv-SE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sv-SE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sv-SE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sv-S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sv-SE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818DDA-0380-45B5-A9F1-AE74A4002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78553"/>
                <a:ext cx="5433795" cy="650178"/>
              </a:xfrm>
              <a:prstGeom prst="rect">
                <a:avLst/>
              </a:prstGeom>
              <a:blipFill>
                <a:blip r:embed="rId4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9DA0B4-5885-41BD-B388-FEC205DEA603}"/>
                  </a:ext>
                </a:extLst>
              </p:cNvPr>
              <p:cNvSpPr txBox="1"/>
              <p:nvPr/>
            </p:nvSpPr>
            <p:spPr>
              <a:xfrm>
                <a:off x="838200" y="5047807"/>
                <a:ext cx="3825599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d>
                                    <m:dPr>
                                      <m:ctrlPr>
                                        <a:rPr lang="sv-S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−∆</m:t>
                                      </m:r>
                                      <m:r>
                                        <a:rPr lang="sv-S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9DA0B4-5885-41BD-B388-FEC205DEA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047807"/>
                <a:ext cx="3825599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4F7C63-B6AB-4C9F-984C-773C705604DF}"/>
                  </a:ext>
                </a:extLst>
              </p:cNvPr>
              <p:cNvSpPr txBox="1"/>
              <p:nvPr/>
            </p:nvSpPr>
            <p:spPr>
              <a:xfrm>
                <a:off x="6383045" y="1417320"/>
                <a:ext cx="5662967" cy="124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1F2328"/>
                    </a:solidFill>
                  </a:rPr>
                  <a:t>Incoming short-wave radiation</a:t>
                </a:r>
                <a:r>
                  <a:rPr lang="en-US" dirty="0">
                    <a:solidFill>
                      <a:srgbClr val="1F2328"/>
                    </a:solidFill>
                  </a:rPr>
                  <a:t>: D</a:t>
                </a:r>
                <a:r>
                  <a:rPr lang="en-US" b="0" i="0" dirty="0">
                    <a:solidFill>
                      <a:srgbClr val="1F2328"/>
                    </a:solidFill>
                    <a:effectLst/>
                  </a:rPr>
                  <a:t>isaggregate daily averages of shortwave radiation using hourly values of potential (clear-sky) radiation.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=1370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sv-SE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𝑑𝑖𝑟</m:t>
                                  </m:r>
                                </m:sub>
                              </m:sSub>
                              <m:r>
                                <a:rPr lang="sv-S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𝑑𝑖𝑓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4F7C63-B6AB-4C9F-984C-773C70560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045" y="1417320"/>
                <a:ext cx="5662967" cy="1242328"/>
              </a:xfrm>
              <a:prstGeom prst="rect">
                <a:avLst/>
              </a:prstGeom>
              <a:blipFill>
                <a:blip r:embed="rId6"/>
                <a:stretch>
                  <a:fillRect l="-861" t="-2956" b="-246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82A4C4B-048E-41B6-8AD2-4F1BD7CC4590}"/>
              </a:ext>
            </a:extLst>
          </p:cNvPr>
          <p:cNvSpPr txBox="1"/>
          <p:nvPr/>
        </p:nvSpPr>
        <p:spPr>
          <a:xfrm>
            <a:off x="765699" y="3699314"/>
            <a:ext cx="184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F2328"/>
                </a:solidFill>
              </a:rPr>
              <a:t>Air temperature</a:t>
            </a:r>
            <a:endParaRPr lang="sv-S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E3DD58-475A-409A-86ED-288088D74881}"/>
              </a:ext>
            </a:extLst>
          </p:cNvPr>
          <p:cNvSpPr txBox="1"/>
          <p:nvPr/>
        </p:nvSpPr>
        <p:spPr>
          <a:xfrm>
            <a:off x="906662" y="5707940"/>
            <a:ext cx="4251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F2328"/>
                </a:solidFill>
              </a:rPr>
              <a:t>Precipitation</a:t>
            </a:r>
            <a:r>
              <a:rPr lang="en-US" sz="1800" dirty="0">
                <a:solidFill>
                  <a:srgbClr val="1F2328"/>
                </a:solidFill>
              </a:rPr>
              <a:t>:  Probabilistic cascade model</a:t>
            </a:r>
            <a:endParaRPr lang="sv-S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41DD3D-2D5B-4F89-B2EB-F9831CEFB0B6}"/>
              </a:ext>
            </a:extLst>
          </p:cNvPr>
          <p:cNvSpPr txBox="1"/>
          <p:nvPr/>
        </p:nvSpPr>
        <p:spPr>
          <a:xfrm>
            <a:off x="6481933" y="2720203"/>
            <a:ext cx="209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F2328"/>
                </a:solidFill>
              </a:rPr>
              <a:t>Relative humidity</a:t>
            </a:r>
            <a:endParaRPr lang="sv-SE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7D5BE5-DCB1-49EA-B2C8-01A174666F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1995" y="3590364"/>
            <a:ext cx="4377130" cy="10632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189F9E8-06B0-4715-94AC-9DF5097AFC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7657" y="3082970"/>
            <a:ext cx="2093896" cy="7862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717B52-0E8E-4B6A-90AC-0CD241D987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2366" y="4619960"/>
            <a:ext cx="2497448" cy="6436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17C7B2B-4D24-4B39-B9E0-6E424AD393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7657" y="5185554"/>
            <a:ext cx="4168145" cy="130732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9E606E2-DDE5-471D-BACC-99593B399749}"/>
              </a:ext>
            </a:extLst>
          </p:cNvPr>
          <p:cNvSpPr txBox="1"/>
          <p:nvPr/>
        </p:nvSpPr>
        <p:spPr>
          <a:xfrm>
            <a:off x="918099" y="4806003"/>
            <a:ext cx="184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F2328"/>
                </a:solidFill>
              </a:rPr>
              <a:t>Wind speed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0850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C2B99F-FEE8-4590-B948-49A0203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3 (MELODIST,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2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FB6AA4-A897-4CDB-A2E2-D82D7F34D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1" y="2015509"/>
            <a:ext cx="3859519" cy="21227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7D0C0-1FD8-4E47-BA9A-1A98B59A3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970" y="4014929"/>
            <a:ext cx="3859519" cy="21227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0BFFA0-97E9-4BAE-A496-923620AABB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970" y="2015508"/>
            <a:ext cx="3859519" cy="21227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D17CB8-16C7-4154-BBDA-FFF142652F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89" y="2015507"/>
            <a:ext cx="3859519" cy="21227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F51A35-862C-40D0-8DB2-E9F571A912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1" y="4006053"/>
            <a:ext cx="3859519" cy="212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77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C2B99F-FEE8-4590-B948-49A0203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3 (MELODIST,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D6AF1D-8F44-4A89-8681-6B0295F68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585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56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C2B99F-FEE8-4590-B948-49A0203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3 (MELODIST,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57ECE-C1B0-4C9E-8CFD-7498224C3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57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C2B99F-FEE8-4590-B948-49A0203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3 (MELODIST,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6A656-0EB2-476E-B10D-3667626816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8813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23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C2B99F-FEE8-4590-B948-49A0203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3 (MELODIST,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8F1FC0-9FBD-4E7C-8D5D-F8A788A2A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0856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12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AC2B99F-FEE8-4590-B948-49A0203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Method 3 (MELODIST, following Zabel et al., 2023 </a:t>
            </a:r>
            <a:r>
              <a:rPr lang="en-GB" sz="20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https://doi.org/10.5194/gmd-16-5383-2023</a:t>
            </a:r>
            <a:r>
              <a:rPr lang="en-GB" sz="20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endParaRPr lang="sv-SE" sz="4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AE687F-8707-414C-860E-26387F40D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1219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79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1182</Words>
  <Application>Microsoft Office PowerPoint</Application>
  <PresentationFormat>Widescreen</PresentationFormat>
  <Paragraphs>234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Temporal climate downscaling</vt:lpstr>
      <vt:lpstr>Method 1: (GRNN-based approach, following Ayala et al., 2020 https://doi.org/10.5194/hess-24-3311-2020</vt:lpstr>
      <vt:lpstr>Method 1: (GRNN-based approach, following Ayala et al., 2020 https://doi.org/10.5194/hess-24-3311-2020</vt:lpstr>
      <vt:lpstr>Method 1: (GRNN-based approach, following Ayala et al., 2020 https://doi.org/10.5194/hess-24-3311-2020</vt:lpstr>
      <vt:lpstr>Method 1: (GRNN-based approach, following Ayala et al., 2020 https://doi.org/10.5194/hess-24-3311-2020</vt:lpstr>
      <vt:lpstr>Method 1: (GRNN-based approach, following Ayala et al., 2020 https://doi.org/10.5194/hess-24-3311-2020</vt:lpstr>
      <vt:lpstr>Method 1: (GRNN-based approach, following Ayala et al., 2020 https://doi.org/10.5194/hess-24-3311-2020</vt:lpstr>
      <vt:lpstr>Method 1: (GRNN-based approach, following Ayala et al., 2020 https://doi.org/10.5194/hess-24-3311-2020</vt:lpstr>
      <vt:lpstr>Method 2 (Teddy tool, following Zabel et al., 2023 https://doi.org/10.5194/gmd-16-5383-2023)</vt:lpstr>
      <vt:lpstr>Method 2 (Teddy tool, following Zabel et al., 2023 https://doi.org/10.5194/gmd-16-5383-2023)</vt:lpstr>
      <vt:lpstr>Method 2 (Teddy tool, following Zabel et al., 2023 https://doi.org/10.5194/gmd-16-5383-2023)</vt:lpstr>
      <vt:lpstr>Method 2 (Teddy tool, following Zabel et al., 2023 https://doi.org/10.5194/gmd-16-5383-2023)</vt:lpstr>
      <vt:lpstr>Method 2 (Teddy tool, following Zabel et al., 2023 https://doi.org/10.5194/gmd-16-5383-2023)</vt:lpstr>
      <vt:lpstr>Method 2 (Teddy tool, following Zabel et al., 2023 https://doi.org/10.5194/gmd-16-5383-2023)</vt:lpstr>
      <vt:lpstr>Method 2 (Teddy tool, following Zabel et al., 2023 https://doi.org/10.5194/gmd-16-5383-2023)</vt:lpstr>
      <vt:lpstr>Method 3 (MELODIST, following Zabel et al., 2023 https://doi.org/10.5194/gmd-16-5383-2023)</vt:lpstr>
      <vt:lpstr>Method 3 (MELODIST, following Zabel et al., 2023 https://doi.org/10.5194/gmd-16-5383-2023)</vt:lpstr>
      <vt:lpstr>Method 3 (MELODIST, following Zabel et al., 2023 https://doi.org/10.5194/gmd-16-5383-2023)</vt:lpstr>
      <vt:lpstr>Method 3 (MELODIST, following Zabel et al., 2023 https://doi.org/10.5194/gmd-16-5383-2023)</vt:lpstr>
      <vt:lpstr>Method 3 (MELODIST, following Zabel et al., 2023 https://doi.org/10.5194/gmd-16-5383-2023)</vt:lpstr>
      <vt:lpstr>Method 3 (MELODIST, following Zabel et al., 2023 https://doi.org/10.5194/gmd-16-5383-2023)</vt:lpstr>
      <vt:lpstr>Method 3 (MELODIST, following Zabel et al., 2023 https://doi.org/10.5194/gmd-16-5383-2023)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 Isabel Ayala-Zamora</dc:creator>
  <cp:lastModifiedBy>Ana Isabel Ayala-Zamora</cp:lastModifiedBy>
  <cp:revision>23</cp:revision>
  <dcterms:created xsi:type="dcterms:W3CDTF">2026-04-14T14:11:37Z</dcterms:created>
  <dcterms:modified xsi:type="dcterms:W3CDTF">2026-04-17T07:37:39Z</dcterms:modified>
</cp:coreProperties>
</file>